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20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00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62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74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4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88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42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71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84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98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71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02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3FD6449-1524-486F-A8EF-380F58367C9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CB3AE30-E19E-4574-993F-B41755493D53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59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0286E-43DB-4E3F-8F76-DEB52F243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122025"/>
            <a:ext cx="10058400" cy="3566160"/>
          </a:xfrm>
        </p:spPr>
        <p:txBody>
          <a:bodyPr>
            <a:noAutofit/>
          </a:bodyPr>
          <a:lstStyle/>
          <a:p>
            <a:r>
              <a:rPr lang="ru-RU" sz="5400" dirty="0"/>
              <a:t>Анализ и сегментация клиентов с помощью алгоритмов кластеризации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490903-0034-465D-A7F6-D394EF79E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Выполнил: </a:t>
            </a:r>
            <a:r>
              <a:rPr lang="ru-RU" b="1" dirty="0"/>
              <a:t>Цуканов Дмитрий Семёнович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886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25E7C-EAAC-45AE-8D15-71DF9B43521A}"/>
              </a:ext>
            </a:extLst>
          </p:cNvPr>
          <p:cNvSpPr txBox="1"/>
          <p:nvPr/>
        </p:nvSpPr>
        <p:spPr>
          <a:xfrm>
            <a:off x="1204486" y="372067"/>
            <a:ext cx="99827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Цель работы</a:t>
            </a:r>
          </a:p>
          <a:p>
            <a:endParaRPr lang="ru-RU" sz="2000" b="1" dirty="0"/>
          </a:p>
          <a:p>
            <a:r>
              <a:rPr lang="ru-RU" sz="2000" dirty="0"/>
              <a:t>Провести сегментацию клиентов интернет-магазина на основе их покупательского поведения с использованием алгоритмов кластеризации.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5F393-4E7C-427C-85EF-470E9BD1C773}"/>
              </a:ext>
            </a:extLst>
          </p:cNvPr>
          <p:cNvSpPr txBox="1"/>
          <p:nvPr/>
        </p:nvSpPr>
        <p:spPr>
          <a:xfrm>
            <a:off x="1204486" y="2130423"/>
            <a:ext cx="99827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Основные задачи:</a:t>
            </a:r>
          </a:p>
          <a:p>
            <a:endParaRPr lang="ru-RU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загрузить и изучить данные о покупках;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выполнить очистку и предобработку данных;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сформировать признаки клиентов;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применить несколько алгоритмов кластеризации;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сравнить качество полученных кластеров;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определить основные группы клиентов;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 сформировать рекомендации для каждой группы.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837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Исходные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Датасет</a:t>
            </a:r>
            <a:r>
              <a:rPr lang="ru-RU" b="1" dirty="0"/>
              <a:t> Online Retail II</a:t>
            </a:r>
          </a:p>
          <a:p>
            <a:r>
              <a:rPr lang="ru-RU" dirty="0"/>
              <a:t>Для анализа использовался набор данных </a:t>
            </a:r>
            <a:r>
              <a:rPr lang="ru-RU" b="1" dirty="0"/>
              <a:t>Online Retail II</a:t>
            </a:r>
            <a:r>
              <a:rPr lang="ru-RU" dirty="0"/>
              <a:t>, содержащий информацию о транзакциях интернет-магазина.</a:t>
            </a:r>
          </a:p>
          <a:p>
            <a:r>
              <a:rPr lang="ru-RU" b="1" dirty="0"/>
              <a:t>Основные признаки: </a:t>
            </a:r>
            <a:r>
              <a:rPr lang="ru-RU" dirty="0"/>
              <a:t>номер заказа, товар, количество, дата покупки, цена, идентификатор клиента, страна, общая стоимость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5EBD6A-C084-405F-AB66-7099CCB3D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3" y="3857414"/>
            <a:ext cx="11332254" cy="210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0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Предобработка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615211" cy="402336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Подготовка данных</a:t>
            </a:r>
          </a:p>
          <a:p>
            <a:r>
              <a:rPr lang="ru-RU" dirty="0"/>
              <a:t>Перед кластеризацией данные были очищены от некорректных записей.</a:t>
            </a:r>
          </a:p>
          <a:p>
            <a:r>
              <a:rPr lang="ru-RU" b="1" dirty="0"/>
              <a:t>Были выполнены следующие действия: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удалены записи без идентификатора клиента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удалены отменённые заказы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исключены записи с отрицательным или нулевым количеством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исключены записи с некорректной ценой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рассчитана общая стоимость каждой покупки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B280E6-D092-4068-9D35-00E2ED46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021" y="1845734"/>
            <a:ext cx="2905693" cy="405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2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Формирование признаков клиентов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933" y="1857762"/>
            <a:ext cx="3420067" cy="3483595"/>
          </a:xfrm>
        </p:spPr>
        <p:txBody>
          <a:bodyPr>
            <a:normAutofit/>
          </a:bodyPr>
          <a:lstStyle/>
          <a:p>
            <a:r>
              <a:rPr lang="en-US" sz="1800" b="1" dirty="0"/>
              <a:t>RFM-</a:t>
            </a:r>
            <a:r>
              <a:rPr lang="ru-RU" sz="1800" b="1" dirty="0"/>
              <a:t>анализ</a:t>
            </a:r>
            <a:endParaRPr lang="en-US" sz="1800" b="1" dirty="0"/>
          </a:p>
          <a:p>
            <a:r>
              <a:rPr lang="ru-RU" sz="1800" dirty="0"/>
              <a:t>Для каждого клиента были рассчитаны основные показатели: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 err="1"/>
              <a:t>Recency</a:t>
            </a:r>
            <a:r>
              <a:rPr lang="ru-RU" sz="1800" dirty="0"/>
              <a:t> — сколько времени прошло с последней покупки;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 err="1"/>
              <a:t>Frequency</a:t>
            </a:r>
            <a:r>
              <a:rPr lang="ru-RU" sz="1800" dirty="0"/>
              <a:t> — количество покупок клиента;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 err="1"/>
              <a:t>Monetary</a:t>
            </a:r>
            <a:r>
              <a:rPr lang="ru-RU" sz="1800" dirty="0"/>
              <a:t> — общая сумма покупок.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87643C-E038-439F-862A-4C2B00FD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666" y="3485854"/>
            <a:ext cx="6601927" cy="23411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55E0D7-2D73-464F-B917-CFAF0947DAC6}"/>
              </a:ext>
            </a:extLst>
          </p:cNvPr>
          <p:cNvSpPr txBox="1"/>
          <p:nvPr/>
        </p:nvSpPr>
        <p:spPr>
          <a:xfrm>
            <a:off x="4777666" y="1803575"/>
            <a:ext cx="7204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Дополнительно использовались:</a:t>
            </a:r>
            <a:r>
              <a:rPr lang="en-US" dirty="0"/>
              <a:t> </a:t>
            </a:r>
            <a:r>
              <a:rPr lang="ru-RU" dirty="0"/>
              <a:t>средний чек, общее количество приобретённых товаров, количество уникальных товаров. </a:t>
            </a:r>
          </a:p>
          <a:p>
            <a:endParaRPr lang="ru-RU" dirty="0"/>
          </a:p>
          <a:p>
            <a:r>
              <a:rPr lang="ru-RU" dirty="0"/>
              <a:t>Перед кластеризацией признаки были стандартизированы с помощью </a:t>
            </a:r>
            <a:r>
              <a:rPr lang="ru-RU" b="1" dirty="0" err="1"/>
              <a:t>StandardScaler</a:t>
            </a:r>
            <a:r>
              <a:rPr lang="ru-RU" dirty="0"/>
              <a:t>, чтобы привести их к единому масштабу.</a:t>
            </a:r>
          </a:p>
        </p:txBody>
      </p:sp>
    </p:spTree>
    <p:extLst>
      <p:ext uri="{BB962C8B-B14F-4D97-AF65-F5344CB8AC3E}">
        <p14:creationId xmlns:p14="http://schemas.microsoft.com/office/powerpoint/2010/main" val="280200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Использованные 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487222" cy="2190100"/>
          </a:xfrm>
        </p:spPr>
        <p:txBody>
          <a:bodyPr>
            <a:normAutofit lnSpcReduction="10000"/>
          </a:bodyPr>
          <a:lstStyle/>
          <a:p>
            <a:r>
              <a:rPr lang="ru-RU" sz="1800" b="1" dirty="0"/>
              <a:t>Алгоритмы кластеризации</a:t>
            </a:r>
          </a:p>
          <a:p>
            <a:r>
              <a:rPr lang="ru-RU" sz="1800" dirty="0"/>
              <a:t>Для сравнения были применены несколько методов: </a:t>
            </a:r>
            <a:r>
              <a:rPr lang="ru-RU" sz="1800" b="1" dirty="0"/>
              <a:t>K-</a:t>
            </a:r>
            <a:r>
              <a:rPr lang="ru-RU" sz="1800" b="1" dirty="0" err="1"/>
              <a:t>Means</a:t>
            </a:r>
            <a:r>
              <a:rPr lang="ru-RU" sz="1800" dirty="0"/>
              <a:t> — разделяет клиентов на заранее заданное количество групп; </a:t>
            </a:r>
            <a:r>
              <a:rPr lang="ru-RU" sz="1800" b="1" dirty="0"/>
              <a:t>иерархическая кластеризация </a:t>
            </a:r>
            <a:r>
              <a:rPr lang="ru-RU" sz="1800" dirty="0"/>
              <a:t>— строит структуру вложенных кластеров; </a:t>
            </a:r>
            <a:r>
              <a:rPr lang="ru-RU" sz="1800" b="1" dirty="0"/>
              <a:t>DBSCAN</a:t>
            </a:r>
            <a:r>
              <a:rPr lang="ru-RU" sz="1800" dirty="0"/>
              <a:t> — выделяет группы по плотности объектов; </a:t>
            </a:r>
            <a:r>
              <a:rPr lang="ru-RU" sz="1800" b="1" dirty="0"/>
              <a:t>OPTICS</a:t>
            </a:r>
            <a:r>
              <a:rPr lang="ru-RU" sz="1800" dirty="0"/>
              <a:t> — позволяет находить кластеры различной плотности. </a:t>
            </a:r>
          </a:p>
          <a:p>
            <a:r>
              <a:rPr lang="ru-RU" sz="1800" b="1" dirty="0"/>
              <a:t>Для оценки качества использовались:</a:t>
            </a:r>
          </a:p>
          <a:p>
            <a:r>
              <a:rPr lang="ru-RU" sz="1800" dirty="0" err="1"/>
              <a:t>Silhouette</a:t>
            </a:r>
            <a:r>
              <a:rPr lang="ru-RU" sz="1800" dirty="0"/>
              <a:t> </a:t>
            </a:r>
            <a:r>
              <a:rPr lang="ru-RU" sz="1800" dirty="0" err="1"/>
              <a:t>Score</a:t>
            </a:r>
            <a:r>
              <a:rPr lang="ru-RU" sz="1800" dirty="0"/>
              <a:t>, </a:t>
            </a:r>
            <a:r>
              <a:rPr lang="ru-RU" sz="1800" dirty="0" err="1"/>
              <a:t>Davies-Bouldin</a:t>
            </a:r>
            <a:r>
              <a:rPr lang="ru-RU" sz="1800" dirty="0"/>
              <a:t> Index и </a:t>
            </a:r>
            <a:r>
              <a:rPr lang="ru-RU" sz="1800" dirty="0" err="1"/>
              <a:t>Calinski-Harabasz</a:t>
            </a:r>
            <a:r>
              <a:rPr lang="ru-RU" sz="1800" dirty="0"/>
              <a:t> Index.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B1F7FA-02B6-4351-8FB8-82198A3F3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04" y="4035834"/>
            <a:ext cx="9030488" cy="208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9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Выбор количества кластеров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867" y="1867221"/>
            <a:ext cx="5423338" cy="3123557"/>
          </a:xfrm>
        </p:spPr>
        <p:txBody>
          <a:bodyPr>
            <a:normAutofit/>
          </a:bodyPr>
          <a:lstStyle/>
          <a:p>
            <a:r>
              <a:rPr lang="ru-RU" sz="1800" b="1" dirty="0"/>
              <a:t>Определение количества сегментов</a:t>
            </a:r>
          </a:p>
          <a:p>
            <a:r>
              <a:rPr lang="ru-RU" sz="1800" dirty="0"/>
              <a:t>Для K-</a:t>
            </a:r>
            <a:r>
              <a:rPr lang="ru-RU" sz="1800" dirty="0" err="1"/>
              <a:t>Means</a:t>
            </a:r>
            <a:r>
              <a:rPr lang="ru-RU" sz="1800" dirty="0"/>
              <a:t> было проверено несколько вариантов количества кластеров.</a:t>
            </a:r>
          </a:p>
          <a:p>
            <a:r>
              <a:rPr lang="ru-RU" sz="1800" dirty="0"/>
              <a:t>По результатам анализа для итоговой сегментации было выбрано:</a:t>
            </a:r>
          </a:p>
          <a:p>
            <a:r>
              <a:rPr lang="ru-RU" sz="1800" b="1" dirty="0"/>
              <a:t>3 кластера</a:t>
            </a:r>
          </a:p>
          <a:p>
            <a:r>
              <a:rPr lang="ru-RU" sz="1800" dirty="0"/>
              <a:t>Такое разделение позволяет получить понятные и интерпретируемые группы клиентов.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C39898-B912-453F-8A4C-419C1904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619" y="2041226"/>
            <a:ext cx="5349924" cy="373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4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Результаты кластеризации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867" y="1867221"/>
            <a:ext cx="5423338" cy="3606567"/>
          </a:xfrm>
        </p:spPr>
        <p:txBody>
          <a:bodyPr>
            <a:normAutofit/>
          </a:bodyPr>
          <a:lstStyle/>
          <a:p>
            <a:r>
              <a:rPr lang="ru-RU" sz="1600" b="1" dirty="0"/>
              <a:t>Полученные сегменты клиентов</a:t>
            </a:r>
          </a:p>
          <a:p>
            <a:r>
              <a:rPr lang="ru-RU" sz="1600" dirty="0"/>
              <a:t>В результате K-</a:t>
            </a:r>
            <a:r>
              <a:rPr lang="ru-RU" sz="1600" dirty="0" err="1"/>
              <a:t>Means</a:t>
            </a:r>
            <a:r>
              <a:rPr lang="ru-RU" sz="1600" dirty="0"/>
              <a:t> были выделены </a:t>
            </a:r>
            <a:r>
              <a:rPr lang="ru-RU" sz="1600" b="1" dirty="0"/>
              <a:t>3 группы клиентов</a:t>
            </a:r>
            <a:r>
              <a:rPr lang="ru-RU" sz="1600" dirty="0"/>
              <a:t>:</a:t>
            </a:r>
          </a:p>
          <a:p>
            <a:r>
              <a:rPr lang="ru-RU" sz="1600" b="1" dirty="0"/>
              <a:t>Кластер 0 — ценные активные клиенты</a:t>
            </a:r>
            <a:br>
              <a:rPr lang="ru-RU" sz="1600" dirty="0"/>
            </a:br>
            <a:r>
              <a:rPr lang="ru-RU" sz="1600" dirty="0"/>
              <a:t>431 клиент. Высокая частота покупок, большие суммы покупок и высокий средний чек.</a:t>
            </a:r>
          </a:p>
          <a:p>
            <a:r>
              <a:rPr lang="ru-RU" sz="1600" b="1" dirty="0"/>
              <a:t>Кластер 1 — покупатели со сниженной активностью</a:t>
            </a:r>
            <a:br>
              <a:rPr lang="ru-RU" sz="1600" dirty="0"/>
            </a:br>
            <a:r>
              <a:rPr lang="ru-RU" sz="1600" dirty="0"/>
              <a:t>2088 клиентов. Давно не совершали покупки и имеют низкие показатели активности.</a:t>
            </a:r>
          </a:p>
          <a:p>
            <a:r>
              <a:rPr lang="ru-RU" sz="1600" b="1" dirty="0"/>
              <a:t>Кластер 2 — обычные активные покупатели</a:t>
            </a:r>
            <a:br>
              <a:rPr lang="ru-RU" sz="1600" dirty="0"/>
            </a:br>
            <a:r>
              <a:rPr lang="ru-RU" sz="1600" dirty="0"/>
              <a:t>3359 клиентов. Самая крупная группа со средними показателями активности.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4DD59B-908E-4462-A455-06DF3C41E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29490"/>
            <a:ext cx="5122742" cy="411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09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Характеристика кластеров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75A71-6BD4-4B26-AB11-1ACF1F4C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8785"/>
            <a:ext cx="5423338" cy="333645"/>
          </a:xfrm>
        </p:spPr>
        <p:txBody>
          <a:bodyPr>
            <a:normAutofit lnSpcReduction="10000"/>
          </a:bodyPr>
          <a:lstStyle/>
          <a:p>
            <a:r>
              <a:rPr lang="ru-RU" sz="1800" b="1" dirty="0"/>
              <a:t>Полученные сегменты клиентов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C079687-C3FB-4C60-91C4-F371336EB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260907"/>
              </p:ext>
            </p:extLst>
          </p:nvPr>
        </p:nvGraphicFramePr>
        <p:xfrm>
          <a:off x="374901" y="2274936"/>
          <a:ext cx="5751579" cy="3108960"/>
        </p:xfrm>
        <a:graphic>
          <a:graphicData uri="http://schemas.openxmlformats.org/drawingml/2006/table">
            <a:tbl>
              <a:tblPr/>
              <a:tblGrid>
                <a:gridCol w="1917193">
                  <a:extLst>
                    <a:ext uri="{9D8B030D-6E8A-4147-A177-3AD203B41FA5}">
                      <a16:colId xmlns:a16="http://schemas.microsoft.com/office/drawing/2014/main" val="77979111"/>
                    </a:ext>
                  </a:extLst>
                </a:gridCol>
                <a:gridCol w="1917193">
                  <a:extLst>
                    <a:ext uri="{9D8B030D-6E8A-4147-A177-3AD203B41FA5}">
                      <a16:colId xmlns:a16="http://schemas.microsoft.com/office/drawing/2014/main" val="1245054389"/>
                    </a:ext>
                  </a:extLst>
                </a:gridCol>
                <a:gridCol w="1917193">
                  <a:extLst>
                    <a:ext uri="{9D8B030D-6E8A-4147-A177-3AD203B41FA5}">
                      <a16:colId xmlns:a16="http://schemas.microsoft.com/office/drawing/2014/main" val="39681098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/>
                        <a:t>Кластер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/>
                        <a:t>Количество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254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 dirty="0"/>
                        <a:t>0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Ценные активные клиенты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dirty="0"/>
                        <a:t>431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07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/>
                        <a:t>1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Покупатели со сниженной активностью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/>
                        <a:t>2088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44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/>
                        <a:t>2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Обычные активные покупатели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dirty="0"/>
                        <a:t>3359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8741753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63A216-0686-498F-B98F-5A8F71BD5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16" y="2144565"/>
            <a:ext cx="5652783" cy="323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7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Рекомендации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95BD519-9B05-4904-85F3-A2719FB8B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6002"/>
            <a:ext cx="10058400" cy="4023360"/>
          </a:xfrm>
        </p:spPr>
        <p:txBody>
          <a:bodyPr>
            <a:normAutofit/>
          </a:bodyPr>
          <a:lstStyle/>
          <a:p>
            <a:r>
              <a:rPr lang="ru-RU" b="1" dirty="0"/>
              <a:t>Стратегия работы с сегментами</a:t>
            </a:r>
          </a:p>
          <a:p>
            <a:r>
              <a:rPr lang="ru-RU" b="1" dirty="0"/>
              <a:t>Кластер 0 — ценные клиенты </a:t>
            </a:r>
            <a:r>
              <a:rPr lang="ru-RU" dirty="0"/>
              <a:t>(персональные предложения; бонусы и программа лояльности; ранний доступ к новым товарам; предложения более дорогих товаров) </a:t>
            </a:r>
          </a:p>
          <a:p>
            <a:r>
              <a:rPr lang="ru-RU" b="1" dirty="0"/>
              <a:t>Кластер 1 — клиенты со сниженной активностью </a:t>
            </a:r>
            <a:r>
              <a:rPr lang="ru-RU" dirty="0"/>
              <a:t>(</a:t>
            </a:r>
            <a:r>
              <a:rPr lang="ru-RU" dirty="0" err="1"/>
              <a:t>промокоды</a:t>
            </a:r>
            <a:r>
              <a:rPr lang="ru-RU" dirty="0"/>
              <a:t>; скидки; напоминания о магазине; специальные предложения для возвращения клиента) </a:t>
            </a:r>
          </a:p>
          <a:p>
            <a:r>
              <a:rPr lang="ru-RU" b="1" dirty="0"/>
              <a:t>Кластер 2 — обычные активные клиенты </a:t>
            </a:r>
            <a:r>
              <a:rPr lang="ru-RU" dirty="0"/>
              <a:t>(скидки на повторные покупки; рекомендации популярных товаров; предложения сопутствующих товаров; программа лояльности)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084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028F0-4DE2-45C5-8CA3-8003AE7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7867"/>
            <a:ext cx="1005840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Вывод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95BD519-9B05-4904-85F3-A2719FB8B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6002"/>
            <a:ext cx="10058400" cy="402336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Заключение</a:t>
            </a:r>
          </a:p>
          <a:p>
            <a:r>
              <a:rPr lang="ru-RU" dirty="0"/>
              <a:t>В ходе работы были обработаны данные интернет-магазина и сформированы признаки поведения клиентов.</a:t>
            </a:r>
          </a:p>
          <a:p>
            <a:r>
              <a:rPr lang="ru-RU" dirty="0"/>
              <a:t>С помощью алгоритмов кластеризации удалось выделить </a:t>
            </a:r>
            <a:r>
              <a:rPr lang="ru-RU" b="1" dirty="0"/>
              <a:t>3 основных сегмента покупателей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ценные активные клиенты;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клиенты со сниженной активностью;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обычные активные покупатели. </a:t>
            </a:r>
          </a:p>
          <a:p>
            <a:r>
              <a:rPr lang="ru-RU" dirty="0"/>
              <a:t>Полученная сегментация позволяет применять разные маркетинговые стратегии к каждой группе и использовать данные о поведении клиентов для персонализации предложений и повышения эффективности продаж.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307064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</TotalTime>
  <Words>568</Words>
  <Application>Microsoft Office PowerPoint</Application>
  <PresentationFormat>Широкоэкранный</PresentationFormat>
  <Paragraphs>81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Ретро</vt:lpstr>
      <vt:lpstr>Анализ и сегментация клиентов с помощью алгоритмов кластеризации</vt:lpstr>
      <vt:lpstr>Презентация PowerPoint</vt:lpstr>
      <vt:lpstr>Исходные данные</vt:lpstr>
      <vt:lpstr>Предобработка данных</vt:lpstr>
      <vt:lpstr>Формирование признаков клиентов</vt:lpstr>
      <vt:lpstr>Использованные алгоритмы</vt:lpstr>
      <vt:lpstr>Выбор количества кластеров</vt:lpstr>
      <vt:lpstr>Результаты кластеризации</vt:lpstr>
      <vt:lpstr>Характеристика кластеров</vt:lpstr>
      <vt:lpstr>Рекомендации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сегментация клиентов с помощью алгоритмов кластеризации</dc:title>
  <dc:creator>Mi</dc:creator>
  <cp:lastModifiedBy>Mi</cp:lastModifiedBy>
  <cp:revision>6</cp:revision>
  <dcterms:created xsi:type="dcterms:W3CDTF">2026-09-28T10:54:51Z</dcterms:created>
  <dcterms:modified xsi:type="dcterms:W3CDTF">2026-09-28T11:41:42Z</dcterms:modified>
</cp:coreProperties>
</file>